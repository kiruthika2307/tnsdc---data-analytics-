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4" r:id="rId11"/>
    <p:sldId id="265" r:id="rId12"/>
    <p:sldId id="268" r:id="rId1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480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nduru Narasimha" userId="bd3f5b018a89079d" providerId="LiveId" clId="{69F0B7B8-A48D-48FD-8D34-6509FC35AB36}"/>
    <pc:docChg chg="modSld">
      <pc:chgData name="Konduru Narasimha" userId="bd3f5b018a89079d" providerId="LiveId" clId="{69F0B7B8-A48D-48FD-8D34-6509FC35AB36}" dt="2024-03-30T14:42:22.571" v="0" actId="1076"/>
      <pc:docMkLst>
        <pc:docMk/>
      </pc:docMkLst>
      <pc:sldChg chg="modSp mod">
        <pc:chgData name="Konduru Narasimha" userId="bd3f5b018a89079d" providerId="LiveId" clId="{69F0B7B8-A48D-48FD-8D34-6509FC35AB36}" dt="2024-03-30T14:42:22.571" v="0" actId="1076"/>
        <pc:sldMkLst>
          <pc:docMk/>
          <pc:sldMk cId="0" sldId="265"/>
        </pc:sldMkLst>
        <pc:picChg chg="mod">
          <ac:chgData name="Konduru Narasimha" userId="bd3f5b018a89079d" providerId="LiveId" clId="{69F0B7B8-A48D-48FD-8D34-6509FC35AB36}" dt="2024-03-30T14:42:22.571" v="0" actId="1076"/>
          <ac:picMkLst>
            <pc:docMk/>
            <pc:sldMk cId="0" sldId="265"/>
            <ac:picMk id="13" creationId="{FEA2EDFA-59A4-12BC-EED8-7AFB8BE2180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t>29-08-2024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55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439ED-1E90-4106-847A-8EF19031FE2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53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95576" y="2067308"/>
            <a:ext cx="5800851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3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7428" y="4829"/>
            <a:ext cx="1218565" cy="6853555"/>
          </a:xfrm>
          <a:custGeom>
            <a:avLst/>
            <a:gdLst/>
            <a:ahLst/>
            <a:cxn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48613" y="3694896"/>
            <a:ext cx="4743451" cy="3163570"/>
          </a:xfrm>
          <a:custGeom>
            <a:avLst/>
            <a:gdLst/>
            <a:ahLst/>
            <a:cxnLst/>
            <a:rect l="l" t="t" r="r" b="b"/>
            <a:pathLst>
              <a:path w="4743450" h="316357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2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2877" y="0"/>
            <a:ext cx="2589531" cy="6858000"/>
          </a:xfrm>
          <a:custGeom>
            <a:avLst/>
            <a:gdLst/>
            <a:ahLst/>
            <a:cxn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4451" y="3048000"/>
            <a:ext cx="3257551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932" y="0"/>
            <a:ext cx="2854325" cy="6858000"/>
          </a:xfrm>
          <a:custGeom>
            <a:avLst/>
            <a:gdLst/>
            <a:ahLst/>
            <a:cxn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36249" y="0"/>
            <a:ext cx="1256031" cy="6858000"/>
          </a:xfrm>
          <a:custGeom>
            <a:avLst/>
            <a:gdLst/>
            <a:ahLst/>
            <a:cxn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725" y="3590929"/>
            <a:ext cx="1819275" cy="3267075"/>
          </a:xfrm>
          <a:custGeom>
            <a:avLst/>
            <a:gdLst/>
            <a:ahLst/>
            <a:cxn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" y="4010029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5335" y="385444"/>
            <a:ext cx="10681335" cy="758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3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3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53421" y="6473340"/>
            <a:ext cx="151129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6300" y="990600"/>
            <a:ext cx="1743075" cy="1333500"/>
            <a:chOff x="742950" y="1104900"/>
            <a:chExt cx="1743075" cy="1333500"/>
          </a:xfrm>
        </p:grpSpPr>
        <p:sp>
          <p:nvSpPr>
            <p:cNvPr id="3" name="object 3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gdLst/>
              <a:ahLst/>
              <a:cxn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3752852" y="1190627"/>
            <a:ext cx="1666875" cy="1438275"/>
          </a:xfrm>
          <a:custGeom>
            <a:avLst/>
            <a:gdLst/>
            <a:ahLst/>
            <a:cxn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00475" y="5229229"/>
            <a:ext cx="723900" cy="619125"/>
          </a:xfrm>
          <a:custGeom>
            <a:avLst/>
            <a:gdLst/>
            <a:ahLst/>
            <a:cxnLst/>
            <a:rect l="l" t="t" r="r" b="b"/>
            <a:pathLst>
              <a:path w="723900" h="619125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xfrm>
            <a:off x="-828675" y="19667"/>
            <a:ext cx="9982200" cy="16786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13735">
              <a:spcBef>
                <a:spcPts val="130"/>
              </a:spcBef>
            </a:pPr>
            <a:r>
              <a:rPr lang="en-US" sz="3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Data Analysis using Excel</a:t>
            </a:r>
            <a:r>
              <a:rPr lang="en-US" sz="3600" b="1" i="0" dirty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0" dirty="0">
                <a:solidFill>
                  <a:srgbClr val="0F0F0F"/>
                </a:solidFill>
                <a:effectLst/>
                <a:latin typeface="Roboto" panose="020F0502020204030204" pitchFamily="2" charset="0"/>
              </a:rPr>
              <a:t/>
            </a:r>
            <a:br>
              <a:rPr lang="en-US" sz="3600" b="1" i="0" dirty="0">
                <a:solidFill>
                  <a:srgbClr val="0F0F0F"/>
                </a:solidFill>
                <a:effectLst/>
                <a:latin typeface="Roboto" panose="020F0502020204030204" pitchFamily="2" charset="0"/>
              </a:rPr>
            </a:br>
            <a:endParaRPr sz="3600" spc="15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1353421" y="6473337"/>
            <a:ext cx="151129" cy="17633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1</a:t>
            </a:fld>
            <a:endParaRPr spc="10" dirty="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9"/>
            <a:ext cx="2143125" cy="2000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D55ADE35-C35B-07C1-F5AA-C33B3DDB802E}"/>
              </a:ext>
            </a:extLst>
          </p:cNvPr>
          <p:cNvSpPr txBox="1"/>
          <p:nvPr/>
        </p:nvSpPr>
        <p:spPr>
          <a:xfrm>
            <a:off x="990600" y="3048000"/>
            <a:ext cx="8915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STUDENT NAME</a:t>
            </a:r>
            <a:r>
              <a:rPr lang="en-US" sz="2400" dirty="0" smtClean="0"/>
              <a:t>: KIRUTHIKA . P</a:t>
            </a:r>
            <a:endParaRPr lang="en-US" sz="2400" dirty="0" smtClean="0"/>
          </a:p>
          <a:p>
            <a:r>
              <a:rPr lang="en-US" sz="2400" dirty="0" smtClean="0"/>
              <a:t>REGISTER </a:t>
            </a:r>
            <a:r>
              <a:rPr lang="en-US" sz="2400" dirty="0"/>
              <a:t>NO</a:t>
            </a:r>
            <a:r>
              <a:rPr lang="en-US" sz="2400" dirty="0" smtClean="0"/>
              <a:t>:   </a:t>
            </a:r>
            <a:r>
              <a:rPr lang="en-US" sz="2400" dirty="0" smtClean="0"/>
              <a:t>312215024</a:t>
            </a:r>
            <a:endParaRPr lang="en-US" sz="2400" dirty="0"/>
          </a:p>
          <a:p>
            <a:r>
              <a:rPr lang="en-US" sz="2400" dirty="0"/>
              <a:t>DEPARTMENT</a:t>
            </a:r>
            <a:r>
              <a:rPr lang="en-US" sz="2400" dirty="0" smtClean="0"/>
              <a:t>: COMMERCE</a:t>
            </a:r>
            <a:endParaRPr lang="en-US" sz="2400" dirty="0"/>
          </a:p>
          <a:p>
            <a:r>
              <a:rPr lang="en-US" sz="2400" dirty="0" smtClean="0"/>
              <a:t>COLLEGE :    SOKA IKEDA COLLEGE OF ARTS AND SCIENCE FOR WOMEN </a:t>
            </a:r>
            <a:endParaRPr lang="en-US" sz="2400" dirty="0"/>
          </a:p>
          <a:p>
            <a:r>
              <a:rPr lang="en-US" sz="2400" dirty="0"/>
              <a:t>           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443851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1" y="4010029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353551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96076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353553" y="5895979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739778" y="829627"/>
            <a:ext cx="3909695" cy="6706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250" spc="5" dirty="0"/>
              <a:t>PROJECT</a:t>
            </a:r>
            <a:r>
              <a:rPr sz="4250" spc="-85" dirty="0"/>
              <a:t> </a:t>
            </a:r>
            <a:r>
              <a:rPr sz="4250" spc="25" dirty="0"/>
              <a:t>TITLE</a:t>
            </a:r>
            <a:endParaRPr sz="4250"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xfrm>
            <a:off x="11353421" y="6473337"/>
            <a:ext cx="151129" cy="17633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2</a:t>
            </a:fld>
            <a:endParaRPr spc="10" dirty="0"/>
          </a:p>
        </p:txBody>
      </p:sp>
      <p:grpSp>
        <p:nvGrpSpPr>
          <p:cNvPr id="18" name="object 18"/>
          <p:cNvGrpSpPr/>
          <p:nvPr/>
        </p:nvGrpSpPr>
        <p:grpSpPr>
          <a:xfrm>
            <a:off x="466728" y="6410329"/>
            <a:ext cx="3705225" cy="295275"/>
            <a:chOff x="466725" y="6410325"/>
            <a:chExt cx="3705225" cy="29527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F691EEC8-E83B-8506-163B-F39E906CCC0A}"/>
              </a:ext>
            </a:extLst>
          </p:cNvPr>
          <p:cNvSpPr txBox="1"/>
          <p:nvPr/>
        </p:nvSpPr>
        <p:spPr>
          <a:xfrm>
            <a:off x="1217523" y="2123271"/>
            <a:ext cx="859322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Performance Analysis using Excel</a:t>
            </a:r>
            <a:endParaRPr lang="en-IN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198" y="28579"/>
            <a:ext cx="12481713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7443851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1" y="4010029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52477" y="6486039"/>
            <a:ext cx="1773555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62827" y="447675"/>
            <a:ext cx="361951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010902" y="5610225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7049" y="6134100"/>
            <a:ext cx="247651" cy="247650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47627" y="3819523"/>
            <a:ext cx="4124325" cy="3009900"/>
            <a:chOff x="47625" y="3819523"/>
            <a:chExt cx="4124325" cy="300990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" y="3819523"/>
              <a:ext cx="1733550" cy="3009898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739775" y="445391"/>
            <a:ext cx="2357120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5" dirty="0"/>
              <a:t>A</a:t>
            </a:r>
            <a:r>
              <a:rPr spc="-5" dirty="0"/>
              <a:t>G</a:t>
            </a:r>
            <a:r>
              <a:rPr spc="-35" dirty="0"/>
              <a:t>E</a:t>
            </a:r>
            <a:r>
              <a:rPr spc="15" dirty="0"/>
              <a:t>N</a:t>
            </a:r>
            <a:r>
              <a:rPr dirty="0"/>
              <a:t>DA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xfrm>
            <a:off x="11353421" y="6473337"/>
            <a:ext cx="151129" cy="17633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3</a:t>
            </a:fld>
            <a:endParaRPr spc="10" dirty="0"/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D0827FA3-A9D4-0FE5-45BE-664C8C920E82}"/>
              </a:ext>
            </a:extLst>
          </p:cNvPr>
          <p:cNvSpPr txBox="1"/>
          <p:nvPr/>
        </p:nvSpPr>
        <p:spPr>
          <a:xfrm>
            <a:off x="2509807" y="1041535"/>
            <a:ext cx="50292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Solution and Proposition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Modelling Approach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991476" y="2933700"/>
            <a:ext cx="2762251" cy="3257550"/>
            <a:chOff x="7991475" y="2933700"/>
            <a:chExt cx="2762250" cy="325755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6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34072" y="575059"/>
            <a:ext cx="7471728" cy="280204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727960" algn="l"/>
              </a:tabLst>
            </a:pPr>
            <a:r>
              <a:rPr sz="4250" spc="-20" dirty="0"/>
              <a:t>P</a:t>
            </a:r>
            <a:r>
              <a:rPr sz="4250" spc="15" dirty="0"/>
              <a:t>ROB</a:t>
            </a:r>
            <a:r>
              <a:rPr sz="4250" spc="55" dirty="0"/>
              <a:t>L</a:t>
            </a:r>
            <a:r>
              <a:rPr sz="4250" spc="-20" dirty="0"/>
              <a:t>E</a:t>
            </a:r>
            <a:r>
              <a:rPr sz="4250" spc="20" dirty="0"/>
              <a:t>M</a:t>
            </a:r>
            <a:r>
              <a:rPr sz="4250" dirty="0"/>
              <a:t>	</a:t>
            </a:r>
            <a:r>
              <a:rPr sz="4250" spc="10" dirty="0" smtClean="0"/>
              <a:t>S</a:t>
            </a:r>
            <a:r>
              <a:rPr sz="4250" spc="-370" dirty="0" smtClean="0"/>
              <a:t>T</a:t>
            </a:r>
            <a:r>
              <a:rPr sz="4250" spc="-375" dirty="0" smtClean="0"/>
              <a:t>A</a:t>
            </a:r>
            <a:r>
              <a:rPr sz="4250" spc="15" dirty="0" smtClean="0"/>
              <a:t>T</a:t>
            </a:r>
            <a:r>
              <a:rPr sz="4250" spc="-10" dirty="0" smtClean="0"/>
              <a:t>E</a:t>
            </a:r>
            <a:r>
              <a:rPr sz="4250" spc="-20" dirty="0" smtClean="0"/>
              <a:t>ME</a:t>
            </a:r>
            <a:r>
              <a:rPr sz="4250" spc="10" dirty="0" smtClean="0"/>
              <a:t>NT</a:t>
            </a:r>
            <a:r>
              <a:rPr lang="en-US" sz="4250" spc="10" dirty="0" smtClean="0"/>
              <a:t/>
            </a:r>
            <a:br>
              <a:rPr lang="en-US" sz="4250" spc="10" dirty="0" smtClean="0"/>
            </a:br>
            <a:r>
              <a:rPr lang="en-US" sz="2400" b="0" spc="10" dirty="0">
                <a:latin typeface="+mn-lt"/>
              </a:rPr>
              <a:t/>
            </a:r>
            <a:br>
              <a:rPr lang="en-US" sz="2400" b="0" spc="10" dirty="0">
                <a:latin typeface="+mn-lt"/>
              </a:rPr>
            </a:br>
            <a:r>
              <a:rPr lang="en-US" sz="2400" b="0" spc="10" dirty="0" smtClean="0">
                <a:latin typeface="+mn-lt"/>
              </a:rPr>
              <a:t/>
            </a:r>
            <a:br>
              <a:rPr lang="en-US" sz="2400" b="0" spc="10" dirty="0" smtClean="0">
                <a:latin typeface="+mn-lt"/>
              </a:rPr>
            </a:br>
            <a:r>
              <a:rPr lang="en-US" sz="2400" b="0" spc="10" dirty="0" smtClean="0">
                <a:latin typeface="+mn-lt"/>
              </a:rPr>
              <a:t>It is made for company Profitable growth and success</a:t>
            </a:r>
            <a:br>
              <a:rPr lang="en-US" sz="2400" b="0" spc="10" dirty="0" smtClean="0">
                <a:latin typeface="+mn-lt"/>
              </a:rPr>
            </a:br>
            <a:r>
              <a:rPr lang="en-US" sz="2400" b="0" spc="10" dirty="0" smtClean="0">
                <a:latin typeface="+mn-lt"/>
              </a:rPr>
              <a:t>and also Employee personal growth too ..</a:t>
            </a:r>
            <a:r>
              <a:rPr lang="en-US" sz="2400" b="0" spc="10" dirty="0">
                <a:latin typeface="+mn-lt"/>
              </a:rPr>
              <a:t/>
            </a:r>
            <a:br>
              <a:rPr lang="en-US" sz="2400" b="0" spc="10" dirty="0">
                <a:latin typeface="+mn-lt"/>
              </a:rPr>
            </a:br>
            <a:endParaRPr sz="425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1353421" y="6473337"/>
            <a:ext cx="151129" cy="17633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4</a:t>
            </a:fld>
            <a:endParaRPr spc="10" dirty="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9"/>
            <a:ext cx="2143125" cy="200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58227" y="2647950"/>
            <a:ext cx="3533775" cy="3810000"/>
            <a:chOff x="8658225" y="2647950"/>
            <a:chExt cx="3533775" cy="381000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6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9776" y="829629"/>
            <a:ext cx="7918451" cy="261738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42870" algn="l"/>
              </a:tabLst>
            </a:pPr>
            <a:r>
              <a:rPr sz="4250" spc="5" dirty="0"/>
              <a:t>PROJECT	</a:t>
            </a:r>
            <a:r>
              <a:rPr sz="4250" spc="-20" dirty="0" smtClean="0"/>
              <a:t>OVERVIEW</a:t>
            </a:r>
            <a:r>
              <a:rPr lang="en-US" sz="4250" spc="-20" dirty="0" smtClean="0"/>
              <a:t/>
            </a:r>
            <a:br>
              <a:rPr lang="en-US" sz="4250" spc="-20" dirty="0" smtClean="0"/>
            </a:br>
            <a:r>
              <a:rPr lang="en-US" sz="4250" spc="-20" dirty="0"/>
              <a:t/>
            </a:r>
            <a:br>
              <a:rPr lang="en-US" sz="4250" spc="-20" dirty="0"/>
            </a:br>
            <a:r>
              <a:rPr lang="en-US" sz="2800" b="0" spc="-20" dirty="0" smtClean="0">
                <a:latin typeface="+mn-lt"/>
                <a:cs typeface="Microsoft Tai Le" pitchFamily="34" charset="0"/>
              </a:rPr>
              <a:t>The primary purpose of an employee database is to store and organize employee related information for administrative , operational  and analytical purposes.</a:t>
            </a:r>
            <a:endParaRPr sz="425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1353421" y="6473337"/>
            <a:ext cx="151129" cy="17633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5</a:t>
            </a:fld>
            <a:endParaRPr spc="10" dirty="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9"/>
            <a:ext cx="2143125" cy="2000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F050B57B-77CA-84FA-9910-3F41C17BBB48}"/>
              </a:ext>
            </a:extLst>
          </p:cNvPr>
          <p:cNvSpPr txBox="1"/>
          <p:nvPr/>
        </p:nvSpPr>
        <p:spPr>
          <a:xfrm>
            <a:off x="457200" y="838204"/>
            <a:ext cx="792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 smtClean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3551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29402" y="1752601"/>
            <a:ext cx="381001" cy="422778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53553" y="5895979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99453" y="891795"/>
            <a:ext cx="5014595" cy="223266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/>
              <a:t>W</a:t>
            </a:r>
            <a:r>
              <a:rPr sz="3200" spc="-20" dirty="0"/>
              <a:t>H</a:t>
            </a:r>
            <a:r>
              <a:rPr sz="3200" spc="20" dirty="0"/>
              <a:t>O</a:t>
            </a:r>
            <a:r>
              <a:rPr sz="3200" spc="-235" dirty="0"/>
              <a:t> </a:t>
            </a:r>
            <a:r>
              <a:rPr sz="3200" spc="-10" dirty="0"/>
              <a:t>AR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10" dirty="0"/>
              <a:t>T</a:t>
            </a:r>
            <a:r>
              <a:rPr sz="3200" spc="-15" dirty="0"/>
              <a:t>H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20" dirty="0"/>
              <a:t>E</a:t>
            </a:r>
            <a:r>
              <a:rPr sz="3200" spc="30" dirty="0"/>
              <a:t>N</a:t>
            </a:r>
            <a:r>
              <a:rPr sz="3200" spc="15" dirty="0"/>
              <a:t>D</a:t>
            </a:r>
            <a:r>
              <a:rPr sz="3200" spc="-45" dirty="0"/>
              <a:t> </a:t>
            </a:r>
            <a:r>
              <a:rPr sz="3200" dirty="0"/>
              <a:t>U</a:t>
            </a:r>
            <a:r>
              <a:rPr sz="3200" spc="10" dirty="0"/>
              <a:t>S</a:t>
            </a:r>
            <a:r>
              <a:rPr sz="3200" spc="-25" dirty="0"/>
              <a:t>E</a:t>
            </a:r>
            <a:r>
              <a:rPr sz="3200" spc="-10" dirty="0"/>
              <a:t>R</a:t>
            </a:r>
            <a:r>
              <a:rPr sz="3200" spc="5" dirty="0"/>
              <a:t>S</a:t>
            </a:r>
            <a:r>
              <a:rPr sz="3200" spc="5" dirty="0" smtClean="0"/>
              <a:t>?</a:t>
            </a:r>
            <a:r>
              <a:rPr lang="en-US" sz="3200" spc="5" dirty="0" smtClean="0"/>
              <a:t/>
            </a:r>
            <a:br>
              <a:rPr lang="en-US" sz="3200" spc="5" dirty="0" smtClean="0"/>
            </a:br>
            <a:r>
              <a:rPr lang="en-US" sz="3200" spc="5" dirty="0"/>
              <a:t/>
            </a:r>
            <a:br>
              <a:rPr lang="en-US" sz="3200" spc="5" dirty="0"/>
            </a:br>
            <a:r>
              <a:rPr lang="en-US" sz="3200" spc="5" dirty="0" smtClean="0"/>
              <a:t/>
            </a:r>
            <a:br>
              <a:rPr lang="en-US" sz="3200" spc="5" dirty="0" smtClean="0"/>
            </a:br>
            <a:r>
              <a:rPr lang="en-US" sz="2400" b="0" spc="5" dirty="0" smtClean="0">
                <a:latin typeface="+mn-lt"/>
              </a:rPr>
              <a:t>1 . Company Management </a:t>
            </a:r>
            <a:br>
              <a:rPr lang="en-US" sz="2400" b="0" spc="5" dirty="0" smtClean="0">
                <a:latin typeface="+mn-lt"/>
              </a:rPr>
            </a:br>
            <a:r>
              <a:rPr lang="en-US" sz="2400" b="0" spc="5" dirty="0" smtClean="0">
                <a:latin typeface="+mn-lt"/>
              </a:rPr>
              <a:t>2 . Employee</a:t>
            </a:r>
            <a:endParaRPr sz="320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1353421" y="6473337"/>
            <a:ext cx="151129" cy="17633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6</a:t>
            </a:fld>
            <a:endParaRPr spc="1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2" y="6172204"/>
            <a:ext cx="2181225" cy="485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" y="1476379"/>
            <a:ext cx="2695575" cy="32480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353551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6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3" y="5895979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58167" y="857885"/>
            <a:ext cx="9763125" cy="31527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10" dirty="0"/>
              <a:t>O</a:t>
            </a:r>
            <a:r>
              <a:rPr sz="3600" spc="25" dirty="0"/>
              <a:t>U</a:t>
            </a:r>
            <a:r>
              <a:rPr sz="3600" dirty="0"/>
              <a:t>R</a:t>
            </a:r>
            <a:r>
              <a:rPr sz="3600" spc="5" dirty="0"/>
              <a:t> </a:t>
            </a:r>
            <a:r>
              <a:rPr sz="3600" spc="25" dirty="0"/>
              <a:t>S</a:t>
            </a:r>
            <a:r>
              <a:rPr sz="3600" spc="10" dirty="0"/>
              <a:t>O</a:t>
            </a:r>
            <a:r>
              <a:rPr sz="3600" spc="25" dirty="0"/>
              <a:t>LU</a:t>
            </a:r>
            <a:r>
              <a:rPr sz="3600" spc="-35" dirty="0"/>
              <a:t>T</a:t>
            </a:r>
            <a:r>
              <a:rPr sz="3600" spc="-30" dirty="0"/>
              <a:t>I</a:t>
            </a:r>
            <a:r>
              <a:rPr sz="3600" spc="10" dirty="0"/>
              <a:t>O</a:t>
            </a:r>
            <a:r>
              <a:rPr sz="3600" dirty="0"/>
              <a:t>N</a:t>
            </a:r>
            <a:r>
              <a:rPr sz="3600" spc="-345" dirty="0"/>
              <a:t> </a:t>
            </a:r>
            <a:r>
              <a:rPr sz="3600" spc="-35" dirty="0"/>
              <a:t>A</a:t>
            </a:r>
            <a:r>
              <a:rPr sz="3600" spc="-5" dirty="0"/>
              <a:t>N</a:t>
            </a:r>
            <a:r>
              <a:rPr sz="3600" dirty="0"/>
              <a:t>D</a:t>
            </a:r>
            <a:r>
              <a:rPr sz="3600" spc="35" dirty="0"/>
              <a:t> </a:t>
            </a:r>
            <a:r>
              <a:rPr sz="3600" spc="-30" dirty="0"/>
              <a:t>I</a:t>
            </a:r>
            <a:r>
              <a:rPr sz="3600" spc="-35" dirty="0"/>
              <a:t>T</a:t>
            </a:r>
            <a:r>
              <a:rPr sz="3600" dirty="0"/>
              <a:t>S</a:t>
            </a:r>
            <a:r>
              <a:rPr sz="3600" spc="60" dirty="0"/>
              <a:t> </a:t>
            </a:r>
            <a:r>
              <a:rPr sz="3600" spc="-295" dirty="0"/>
              <a:t>V</a:t>
            </a:r>
            <a:r>
              <a:rPr sz="3600" spc="-35" dirty="0"/>
              <a:t>A</a:t>
            </a:r>
            <a:r>
              <a:rPr sz="3600" spc="25" dirty="0"/>
              <a:t>LU</a:t>
            </a:r>
            <a:r>
              <a:rPr sz="3600" dirty="0"/>
              <a:t>E</a:t>
            </a:r>
            <a:r>
              <a:rPr sz="3600" spc="-65" dirty="0"/>
              <a:t> </a:t>
            </a:r>
            <a:r>
              <a:rPr sz="3600" spc="-15" dirty="0" smtClean="0"/>
              <a:t>P</a:t>
            </a:r>
            <a:r>
              <a:rPr sz="3600" spc="-30" dirty="0" smtClean="0"/>
              <a:t>R</a:t>
            </a:r>
            <a:r>
              <a:rPr sz="3600" spc="10" dirty="0" smtClean="0"/>
              <a:t>O</a:t>
            </a:r>
            <a:r>
              <a:rPr sz="3600" spc="-15" dirty="0" smtClean="0"/>
              <a:t>P</a:t>
            </a:r>
            <a:r>
              <a:rPr sz="3600" spc="10" dirty="0" smtClean="0"/>
              <a:t>O</a:t>
            </a:r>
            <a:r>
              <a:rPr sz="3600" spc="25" dirty="0" smtClean="0"/>
              <a:t>S</a:t>
            </a:r>
            <a:r>
              <a:rPr sz="3600" spc="-30" dirty="0" smtClean="0"/>
              <a:t>I</a:t>
            </a:r>
            <a:r>
              <a:rPr sz="3600" spc="-35" dirty="0" smtClean="0"/>
              <a:t>T</a:t>
            </a:r>
            <a:r>
              <a:rPr sz="3600" spc="-30" dirty="0" smtClean="0"/>
              <a:t>I</a:t>
            </a:r>
            <a:r>
              <a:rPr sz="3600" spc="10" dirty="0" smtClean="0"/>
              <a:t>O</a:t>
            </a:r>
            <a:r>
              <a:rPr sz="3600" dirty="0" smtClean="0"/>
              <a:t>N</a:t>
            </a:r>
            <a:r>
              <a:rPr lang="en-US" sz="3600" dirty="0" smtClean="0"/>
              <a:t> </a:t>
            </a:r>
            <a:br>
              <a:rPr lang="en-US" sz="3600" dirty="0" smtClean="0"/>
            </a:b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 smtClean="0"/>
              <a:t>                  </a:t>
            </a:r>
            <a:r>
              <a:rPr lang="en-US" sz="2400" dirty="0"/>
              <a:t>1</a:t>
            </a:r>
            <a:r>
              <a:rPr lang="en-US" sz="2400" dirty="0" smtClean="0"/>
              <a:t> .</a:t>
            </a:r>
            <a:r>
              <a:rPr lang="en-US" sz="3600" dirty="0" smtClean="0"/>
              <a:t> </a:t>
            </a:r>
            <a:r>
              <a:rPr lang="en-US" sz="2400" dirty="0" smtClean="0">
                <a:latin typeface="+mn-lt"/>
              </a:rPr>
              <a:t>Filtering – </a:t>
            </a:r>
            <a:r>
              <a:rPr lang="en-US" sz="2400" b="0" dirty="0" smtClean="0">
                <a:latin typeface="+mn-lt"/>
              </a:rPr>
              <a:t>It </a:t>
            </a:r>
            <a:r>
              <a:rPr lang="en-US" sz="2400" dirty="0" smtClean="0">
                <a:latin typeface="+mn-lt"/>
              </a:rPr>
              <a:t> </a:t>
            </a:r>
            <a:r>
              <a:rPr lang="en-US" sz="2400" b="0" dirty="0" smtClean="0">
                <a:latin typeface="+mn-lt"/>
              </a:rPr>
              <a:t>removes the  missing  values</a:t>
            </a:r>
            <a:br>
              <a:rPr lang="en-US" sz="2400" b="0" dirty="0" smtClean="0">
                <a:latin typeface="+mn-lt"/>
              </a:rPr>
            </a:br>
            <a:r>
              <a:rPr lang="en-US" sz="2400" b="0" dirty="0" smtClean="0">
                <a:latin typeface="+mn-lt"/>
              </a:rPr>
              <a:t>                                    2 .  </a:t>
            </a:r>
            <a:r>
              <a:rPr lang="en-US" sz="2400" dirty="0" err="1" smtClean="0">
                <a:latin typeface="+mn-lt"/>
              </a:rPr>
              <a:t>Conditinal</a:t>
            </a:r>
            <a:r>
              <a:rPr lang="en-US" sz="2400" dirty="0" smtClean="0">
                <a:latin typeface="+mn-lt"/>
              </a:rPr>
              <a:t> </a:t>
            </a:r>
            <a:r>
              <a:rPr lang="en-US" sz="2400" dirty="0" err="1" smtClean="0">
                <a:latin typeface="+mn-lt"/>
              </a:rPr>
              <a:t>Formating</a:t>
            </a:r>
            <a:r>
              <a:rPr lang="en-US" sz="2400" dirty="0" smtClean="0">
                <a:latin typeface="+mn-lt"/>
              </a:rPr>
              <a:t>  </a:t>
            </a:r>
            <a:r>
              <a:rPr lang="en-US" sz="2400" b="0" dirty="0" smtClean="0">
                <a:latin typeface="+mn-lt"/>
              </a:rPr>
              <a:t>- Blanks</a:t>
            </a:r>
            <a:br>
              <a:rPr lang="en-US" sz="2400" b="0" dirty="0" smtClean="0">
                <a:latin typeface="+mn-lt"/>
              </a:rPr>
            </a:br>
            <a:r>
              <a:rPr lang="en-US" sz="2400" b="0" dirty="0" smtClean="0">
                <a:latin typeface="+mn-lt"/>
              </a:rPr>
              <a:t>                                    3 .   </a:t>
            </a:r>
            <a:r>
              <a:rPr lang="en-US" sz="2400" dirty="0" smtClean="0">
                <a:latin typeface="+mn-lt"/>
              </a:rPr>
              <a:t>Pivot table – </a:t>
            </a:r>
            <a:r>
              <a:rPr lang="en-US" sz="2400" b="0" dirty="0" smtClean="0">
                <a:latin typeface="+mn-lt"/>
              </a:rPr>
              <a:t>Summary of employee performance                               </a:t>
            </a:r>
            <a:br>
              <a:rPr lang="en-US" sz="2400" b="0" dirty="0" smtClean="0">
                <a:latin typeface="+mn-lt"/>
              </a:rPr>
            </a:br>
            <a:r>
              <a:rPr lang="en-US" sz="2400" b="0" dirty="0">
                <a:latin typeface="+mn-lt"/>
              </a:rPr>
              <a:t> </a:t>
            </a:r>
            <a:r>
              <a:rPr lang="en-US" sz="2400" b="0" dirty="0" smtClean="0">
                <a:latin typeface="+mn-lt"/>
              </a:rPr>
              <a:t>                                   4 .  </a:t>
            </a:r>
            <a:r>
              <a:rPr lang="en-US" sz="2400" dirty="0" smtClean="0">
                <a:latin typeface="+mn-lt"/>
              </a:rPr>
              <a:t>Formulas </a:t>
            </a:r>
            <a:r>
              <a:rPr lang="en-US" sz="2400" b="0" dirty="0" smtClean="0">
                <a:latin typeface="+mn-lt"/>
              </a:rPr>
              <a:t>– IF</a:t>
            </a:r>
            <a:br>
              <a:rPr lang="en-US" sz="2400" b="0" dirty="0" smtClean="0">
                <a:latin typeface="+mn-lt"/>
              </a:rPr>
            </a:br>
            <a:r>
              <a:rPr lang="en-US" sz="2400" b="0" dirty="0">
                <a:latin typeface="+mn-lt"/>
              </a:rPr>
              <a:t> </a:t>
            </a:r>
            <a:r>
              <a:rPr lang="en-US" sz="2400" b="0" dirty="0" smtClean="0">
                <a:latin typeface="+mn-lt"/>
              </a:rPr>
              <a:t>                                   5 .   </a:t>
            </a:r>
            <a:r>
              <a:rPr lang="en-US" sz="2400" dirty="0" smtClean="0">
                <a:latin typeface="+mn-lt"/>
              </a:rPr>
              <a:t>Graphs –</a:t>
            </a:r>
            <a:r>
              <a:rPr lang="en-US" sz="2400" b="0" dirty="0" smtClean="0">
                <a:latin typeface="+mn-lt"/>
              </a:rPr>
              <a:t> FINAL REPORT </a:t>
            </a:r>
            <a:endParaRPr sz="360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1353421" y="6473337"/>
            <a:ext cx="151129" cy="17633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7</a:t>
            </a:fld>
            <a:endParaRPr spc="10" dirty="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9"/>
            <a:ext cx="2143125" cy="200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E06195E-16D6-79D8-7A9F-F8EB1FE9E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335" y="385448"/>
            <a:ext cx="10681335" cy="5847755"/>
          </a:xfrm>
        </p:spPr>
        <p:txBody>
          <a:bodyPr/>
          <a:lstStyle/>
          <a:p>
            <a:pPr fontAlgn="base"/>
            <a:r>
              <a:rPr lang="en-IN" dirty="0"/>
              <a:t>Dataset </a:t>
            </a:r>
            <a:r>
              <a:rPr lang="en-IN" dirty="0" smtClean="0"/>
              <a:t>Description</a:t>
            </a:r>
            <a:br>
              <a:rPr lang="en-IN" dirty="0" smtClean="0"/>
            </a:br>
            <a:r>
              <a:rPr lang="en-IN" sz="2400" b="0" dirty="0">
                <a:latin typeface="+mn-lt"/>
              </a:rPr>
              <a:t/>
            </a:r>
            <a:br>
              <a:rPr lang="en-IN" sz="2400" b="0" dirty="0">
                <a:latin typeface="+mn-lt"/>
              </a:rPr>
            </a:br>
            <a:r>
              <a:rPr lang="en-IN" sz="2400" b="0" dirty="0" smtClean="0">
                <a:latin typeface="+mn-lt"/>
              </a:rPr>
              <a:t>Employee Dataset  : </a:t>
            </a:r>
            <a:r>
              <a:rPr lang="en-IN" sz="2400" b="0" dirty="0" err="1" smtClean="0">
                <a:latin typeface="+mn-lt"/>
              </a:rPr>
              <a:t>Kaggle</a:t>
            </a:r>
            <a:r>
              <a:rPr lang="en-IN" sz="2400" b="0" dirty="0" smtClean="0">
                <a:latin typeface="+mn-lt"/>
              </a:rPr>
              <a:t/>
            </a:r>
            <a:br>
              <a:rPr lang="en-IN" sz="2400" b="0" dirty="0" smtClean="0">
                <a:latin typeface="+mn-lt"/>
              </a:rPr>
            </a:br>
            <a:r>
              <a:rPr lang="en-IN" sz="2400" b="0" dirty="0" smtClean="0">
                <a:latin typeface="+mn-lt"/>
              </a:rPr>
              <a:t>features                    :out of 26 / 9 features 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US" sz="2000" dirty="0" smtClean="0">
                <a:latin typeface="+mn-lt"/>
              </a:rPr>
              <a:t>Employee </a:t>
            </a:r>
            <a:r>
              <a:rPr lang="en-US" sz="2000" dirty="0">
                <a:latin typeface="+mn-lt"/>
              </a:rPr>
              <a:t>ID</a:t>
            </a:r>
            <a:r>
              <a:rPr lang="en-US" sz="2000" b="0" dirty="0">
                <a:latin typeface="+mn-lt"/>
              </a:rPr>
              <a:t>: Unique identifier for each employee in the organization.</a:t>
            </a:r>
            <a:br>
              <a:rPr lang="en-US" sz="2000" b="0" dirty="0">
                <a:latin typeface="+mn-lt"/>
              </a:rPr>
            </a:br>
            <a:r>
              <a:rPr lang="en-US" sz="2000" dirty="0">
                <a:latin typeface="+mn-lt"/>
              </a:rPr>
              <a:t>First Name</a:t>
            </a:r>
            <a:r>
              <a:rPr lang="en-US" sz="2000" b="0" dirty="0">
                <a:latin typeface="+mn-lt"/>
              </a:rPr>
              <a:t>: The first name of the employee.</a:t>
            </a:r>
            <a:br>
              <a:rPr lang="en-US" sz="2000" b="0" dirty="0">
                <a:latin typeface="+mn-lt"/>
              </a:rPr>
            </a:br>
            <a:r>
              <a:rPr lang="en-US" sz="2000" dirty="0">
                <a:latin typeface="+mn-lt"/>
              </a:rPr>
              <a:t>Last Name</a:t>
            </a:r>
            <a:r>
              <a:rPr lang="en-US" sz="2000" b="0" dirty="0">
                <a:latin typeface="+mn-lt"/>
              </a:rPr>
              <a:t>: The last name of the employee.</a:t>
            </a:r>
            <a:br>
              <a:rPr lang="en-US" sz="2000" b="0" dirty="0">
                <a:latin typeface="+mn-lt"/>
              </a:rPr>
            </a:br>
            <a:r>
              <a:rPr lang="en-US" sz="2000" dirty="0">
                <a:latin typeface="+mn-lt"/>
              </a:rPr>
              <a:t>Start Date</a:t>
            </a:r>
            <a:r>
              <a:rPr lang="en-US" sz="2000" b="0" dirty="0">
                <a:latin typeface="+mn-lt"/>
              </a:rPr>
              <a:t>: The date when the employee started working for the organization.</a:t>
            </a:r>
            <a:br>
              <a:rPr lang="en-US" sz="2000" b="0" dirty="0">
                <a:latin typeface="+mn-lt"/>
              </a:rPr>
            </a:br>
            <a:r>
              <a:rPr lang="en-US" sz="2000" dirty="0">
                <a:latin typeface="+mn-lt"/>
              </a:rPr>
              <a:t>Exit Date</a:t>
            </a:r>
            <a:r>
              <a:rPr lang="en-US" sz="2000" b="0" dirty="0">
                <a:latin typeface="+mn-lt"/>
              </a:rPr>
              <a:t>: The date when the employee left or exited the organization (if applicable).</a:t>
            </a:r>
            <a:br>
              <a:rPr lang="en-US" sz="2000" b="0" dirty="0">
                <a:latin typeface="+mn-lt"/>
              </a:rPr>
            </a:br>
            <a:r>
              <a:rPr lang="en-US" sz="2000" dirty="0" smtClean="0">
                <a:latin typeface="+mn-lt"/>
              </a:rPr>
              <a:t>Business </a:t>
            </a:r>
            <a:r>
              <a:rPr lang="en-US" sz="2000" dirty="0">
                <a:latin typeface="+mn-lt"/>
              </a:rPr>
              <a:t>Unit</a:t>
            </a:r>
            <a:r>
              <a:rPr lang="en-US" sz="2000" b="0" dirty="0">
                <a:latin typeface="+mn-lt"/>
              </a:rPr>
              <a:t>: The specific business unit or department to which the employee belongs.</a:t>
            </a:r>
            <a:br>
              <a:rPr lang="en-US" sz="2000" b="0" dirty="0">
                <a:latin typeface="+mn-lt"/>
              </a:rPr>
            </a:br>
            <a:r>
              <a:rPr lang="en-US" sz="2000" dirty="0" smtClean="0">
                <a:latin typeface="+mn-lt"/>
              </a:rPr>
              <a:t>Employee </a:t>
            </a:r>
            <a:r>
              <a:rPr lang="en-US" sz="2000" dirty="0">
                <a:latin typeface="+mn-lt"/>
              </a:rPr>
              <a:t>Type</a:t>
            </a:r>
            <a:r>
              <a:rPr lang="en-US" sz="2000" b="0" dirty="0">
                <a:latin typeface="+mn-lt"/>
              </a:rPr>
              <a:t>: The type of employment the employee has (e.g., Full-time, Part-time, Contract).</a:t>
            </a:r>
            <a:br>
              <a:rPr lang="en-US" sz="2000" b="0" dirty="0">
                <a:latin typeface="+mn-lt"/>
              </a:rPr>
            </a:br>
            <a:r>
              <a:rPr lang="en-US" sz="2000" dirty="0">
                <a:latin typeface="+mn-lt"/>
              </a:rPr>
              <a:t>Pay Zone</a:t>
            </a:r>
            <a:r>
              <a:rPr lang="en-US" sz="2000" b="0" dirty="0">
                <a:latin typeface="+mn-lt"/>
              </a:rPr>
              <a:t>: The pay zone or salary band to which the employee's compensation falls.</a:t>
            </a:r>
            <a:br>
              <a:rPr lang="en-US" sz="2000" b="0" dirty="0">
                <a:latin typeface="+mn-lt"/>
              </a:rPr>
            </a:br>
            <a:r>
              <a:rPr lang="en-US" sz="2000" dirty="0">
                <a:latin typeface="+mn-lt"/>
              </a:rPr>
              <a:t>Employee Classification Type</a:t>
            </a:r>
            <a:r>
              <a:rPr lang="en-US" sz="2000" b="0" dirty="0">
                <a:latin typeface="+mn-lt"/>
              </a:rPr>
              <a:t>: The classification type of the employee (e.g., Exempt, Non-exempt).</a:t>
            </a:r>
            <a:br>
              <a:rPr lang="en-US" sz="2000" b="0" dirty="0">
                <a:latin typeface="+mn-lt"/>
              </a:rPr>
            </a:br>
            <a:r>
              <a:rPr lang="en-US" sz="2000" dirty="0">
                <a:latin typeface="+mn-lt"/>
              </a:rPr>
              <a:t>Termination Type</a:t>
            </a:r>
            <a:r>
              <a:rPr lang="en-US" sz="2000" b="0" dirty="0">
                <a:latin typeface="+mn-lt"/>
              </a:rPr>
              <a:t>: The type of termination if the employee has left the </a:t>
            </a:r>
            <a:r>
              <a:rPr lang="en-US" sz="2000" b="0" dirty="0" smtClean="0">
                <a:latin typeface="+mn-lt"/>
              </a:rPr>
              <a:t>organization.</a:t>
            </a:r>
            <a:br>
              <a:rPr lang="en-US" sz="2000" b="0" dirty="0" smtClean="0">
                <a:latin typeface="+mn-lt"/>
              </a:rPr>
            </a:br>
            <a:r>
              <a:rPr lang="en-US" sz="2000" dirty="0" smtClean="0">
                <a:latin typeface="+mn-lt"/>
              </a:rPr>
              <a:t> Gender</a:t>
            </a:r>
            <a:r>
              <a:rPr lang="en-US" sz="2000" b="0" dirty="0" smtClean="0">
                <a:latin typeface="+mn-lt"/>
              </a:rPr>
              <a:t> : Male and female</a:t>
            </a:r>
            <a:r>
              <a:rPr lang="en-US" sz="2000" b="0" dirty="0">
                <a:latin typeface="+mn-lt"/>
              </a:rPr>
              <a:t/>
            </a:r>
            <a:br>
              <a:rPr lang="en-US" sz="2000" b="0" dirty="0">
                <a:latin typeface="+mn-lt"/>
              </a:rPr>
            </a:br>
            <a:r>
              <a:rPr lang="en-IN" sz="2000" b="0" dirty="0">
                <a:latin typeface="+mn-lt"/>
              </a:rPr>
              <a:t/>
            </a:r>
            <a:br>
              <a:rPr lang="en-IN" sz="2000" b="0" dirty="0">
                <a:latin typeface="+mn-lt"/>
              </a:rPr>
            </a:br>
            <a:endParaRPr lang="en-IN" sz="20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20660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2477" y="6486039"/>
            <a:ext cx="1773555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53551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6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3" y="5895979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8" y="3381377"/>
            <a:ext cx="2466975" cy="341947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9778" y="654938"/>
            <a:ext cx="8480425" cy="6706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250" spc="15" dirty="0"/>
              <a:t>THE</a:t>
            </a:r>
            <a:r>
              <a:rPr sz="4250" spc="20" dirty="0"/>
              <a:t> </a:t>
            </a:r>
            <a:r>
              <a:rPr lang="en-US" sz="4250" spc="20" dirty="0"/>
              <a:t>"</a:t>
            </a:r>
            <a:r>
              <a:rPr sz="4250" spc="10" dirty="0"/>
              <a:t>WOW</a:t>
            </a:r>
            <a:r>
              <a:rPr lang="en-US" sz="4250" spc="10" dirty="0"/>
              <a:t>"</a:t>
            </a:r>
            <a:r>
              <a:rPr sz="4250" spc="85" dirty="0"/>
              <a:t> </a:t>
            </a:r>
            <a:r>
              <a:rPr sz="4250" spc="10" dirty="0"/>
              <a:t>IN</a:t>
            </a:r>
            <a:r>
              <a:rPr sz="4250" spc="-5" dirty="0"/>
              <a:t> </a:t>
            </a:r>
            <a:r>
              <a:rPr sz="4250" spc="15" dirty="0"/>
              <a:t>OUR</a:t>
            </a:r>
            <a:r>
              <a:rPr sz="4250" spc="-10" dirty="0"/>
              <a:t> </a:t>
            </a:r>
            <a:r>
              <a:rPr sz="4250" spc="20" dirty="0"/>
              <a:t>SOLUTION</a:t>
            </a:r>
            <a:endParaRPr sz="4250" dirty="0"/>
          </a:p>
        </p:txBody>
      </p:sp>
      <p:sp>
        <p:nvSpPr>
          <p:cNvPr id="8" name="object 8"/>
          <p:cNvSpPr txBox="1"/>
          <p:nvPr/>
        </p:nvSpPr>
        <p:spPr>
          <a:xfrm>
            <a:off x="11277219" y="6473337"/>
            <a:ext cx="228600" cy="17633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9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FAD9CEB2-36E1-0550-426B-2FAF97882044}"/>
              </a:ext>
            </a:extLst>
          </p:cNvPr>
          <p:cNvSpPr txBox="1"/>
          <p:nvPr/>
        </p:nvSpPr>
        <p:spPr>
          <a:xfrm>
            <a:off x="2743201" y="2354707"/>
            <a:ext cx="85340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39254" y="2667000"/>
            <a:ext cx="53711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Formula  :  IF (A8&gt;5,”HIGH”,IF (A8&lt;5,”MEDIUM”,”LOW”)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9353553" y="5895979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277219" y="6473339"/>
            <a:ext cx="228600" cy="17633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10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9773" y="291148"/>
            <a:ext cx="5965827" cy="5497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b="1" spc="15" dirty="0" smtClean="0">
                <a:latin typeface="Trebuchet MS"/>
                <a:cs typeface="Trebuchet MS"/>
              </a:rPr>
              <a:t>M</a:t>
            </a:r>
            <a:r>
              <a:rPr sz="4800" b="1" dirty="0" smtClean="0">
                <a:latin typeface="Trebuchet MS"/>
                <a:cs typeface="Trebuchet MS"/>
              </a:rPr>
              <a:t>O</a:t>
            </a:r>
            <a:r>
              <a:rPr sz="4800" b="1" spc="-15" dirty="0" smtClean="0">
                <a:latin typeface="Trebuchet MS"/>
                <a:cs typeface="Trebuchet MS"/>
              </a:rPr>
              <a:t>D</a:t>
            </a:r>
            <a:r>
              <a:rPr sz="4800" b="1" spc="-35" dirty="0" smtClean="0">
                <a:latin typeface="Trebuchet MS"/>
                <a:cs typeface="Trebuchet MS"/>
              </a:rPr>
              <a:t>E</a:t>
            </a:r>
            <a:r>
              <a:rPr sz="4800" b="1" spc="-30" dirty="0" smtClean="0">
                <a:latin typeface="Trebuchet MS"/>
                <a:cs typeface="Trebuchet MS"/>
              </a:rPr>
              <a:t>LL</a:t>
            </a:r>
            <a:r>
              <a:rPr sz="4800" b="1" spc="-5" dirty="0" smtClean="0">
                <a:latin typeface="Trebuchet MS"/>
                <a:cs typeface="Trebuchet MS"/>
              </a:rPr>
              <a:t>I</a:t>
            </a:r>
            <a:r>
              <a:rPr sz="4800" b="1" spc="30" dirty="0" smtClean="0">
                <a:latin typeface="Trebuchet MS"/>
                <a:cs typeface="Trebuchet MS"/>
              </a:rPr>
              <a:t>N</a:t>
            </a:r>
            <a:r>
              <a:rPr sz="4800" b="1" spc="5" dirty="0" smtClean="0">
                <a:latin typeface="Trebuchet MS"/>
                <a:cs typeface="Trebuchet MS"/>
              </a:rPr>
              <a:t>G</a:t>
            </a:r>
            <a:endParaRPr lang="en-US" sz="4800" b="1" spc="5" dirty="0" smtClean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4800" b="1" spc="5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b="1" spc="5" dirty="0" smtClean="0">
                <a:cs typeface="Trebuchet MS"/>
              </a:rPr>
              <a:t>Data set  </a:t>
            </a:r>
            <a:r>
              <a:rPr lang="en-US" sz="2000" spc="5" dirty="0" smtClean="0">
                <a:cs typeface="Trebuchet MS"/>
              </a:rPr>
              <a:t>: </a:t>
            </a:r>
            <a:r>
              <a:rPr lang="en-US" sz="2400" spc="5" dirty="0" err="1" smtClean="0">
                <a:cs typeface="Trebuchet MS"/>
              </a:rPr>
              <a:t>kaggle</a:t>
            </a:r>
            <a:r>
              <a:rPr lang="en-US" sz="2400" spc="5" dirty="0" smtClean="0">
                <a:cs typeface="Trebuchet MS"/>
              </a:rPr>
              <a:t> , Employee dataset 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2400" spc="5" dirty="0" smtClean="0"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b="1" spc="5" dirty="0" smtClean="0">
                <a:cs typeface="Trebuchet MS"/>
              </a:rPr>
              <a:t>Data  Cleaning </a:t>
            </a:r>
            <a:r>
              <a:rPr lang="en-US" sz="2400" spc="5" dirty="0" smtClean="0">
                <a:cs typeface="Trebuchet MS"/>
              </a:rPr>
              <a:t>:  Missing values , Irrelevant 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2000" spc="5" dirty="0" smtClean="0"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b="1" spc="5" dirty="0" smtClean="0">
                <a:cs typeface="Trebuchet MS"/>
              </a:rPr>
              <a:t>Formula</a:t>
            </a:r>
            <a:r>
              <a:rPr lang="en-US" sz="2000" spc="5" dirty="0" smtClean="0">
                <a:cs typeface="Trebuchet MS"/>
              </a:rPr>
              <a:t> : </a:t>
            </a:r>
            <a:r>
              <a:rPr lang="en-US" sz="2400" spc="5" dirty="0" smtClean="0">
                <a:cs typeface="Trebuchet MS"/>
              </a:rPr>
              <a:t>performance calculation , low , med , high 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2000" spc="5" dirty="0" smtClean="0"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b="1" spc="5" dirty="0" smtClean="0">
                <a:cs typeface="Trebuchet MS"/>
              </a:rPr>
              <a:t>Pivot table </a:t>
            </a:r>
            <a:r>
              <a:rPr lang="en-US" sz="2400" spc="5" dirty="0" smtClean="0">
                <a:cs typeface="Trebuchet MS"/>
              </a:rPr>
              <a:t>: summary , business unit , Gender , Employment type , Employee Id , performance 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2000" spc="5" dirty="0"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b="1" spc="5" dirty="0" smtClean="0">
                <a:cs typeface="Trebuchet MS"/>
              </a:rPr>
              <a:t>Chart</a:t>
            </a:r>
            <a:r>
              <a:rPr lang="en-US" sz="2000" spc="5" dirty="0" smtClean="0">
                <a:cs typeface="Trebuchet MS"/>
              </a:rPr>
              <a:t> : </a:t>
            </a:r>
            <a:r>
              <a:rPr lang="en-US" sz="2400" spc="5" dirty="0" smtClean="0">
                <a:cs typeface="Trebuchet MS"/>
              </a:rPr>
              <a:t>Report : slicer  </a:t>
            </a:r>
            <a:endParaRPr sz="2400" dirty="0">
              <a:cs typeface="Trebuchet MS"/>
            </a:endParaRPr>
          </a:p>
        </p:txBody>
      </p:sp>
      <p:sp>
        <p:nvSpPr>
          <p:cNvPr id="14" name="object 3"/>
          <p:cNvSpPr/>
          <p:nvPr/>
        </p:nvSpPr>
        <p:spPr>
          <a:xfrm>
            <a:off x="10058400" y="5251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353551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6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3" y="5895979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55333" y="385446"/>
            <a:ext cx="2437131" cy="149079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mtClean="0"/>
              <a:t>R</a:t>
            </a:r>
            <a:r>
              <a:rPr spc="-40" dirty="0" smtClean="0"/>
              <a:t>E</a:t>
            </a:r>
            <a:r>
              <a:rPr spc="15" dirty="0" smtClean="0"/>
              <a:t>S</a:t>
            </a:r>
            <a:r>
              <a:rPr spc="-30" dirty="0" smtClean="0"/>
              <a:t>U</a:t>
            </a:r>
            <a:r>
              <a:rPr spc="-405" dirty="0" smtClean="0"/>
              <a:t>L</a:t>
            </a:r>
            <a:r>
              <a:rPr dirty="0" smtClean="0"/>
              <a:t>TS</a:t>
            </a:r>
            <a:r>
              <a:rPr lang="en-US" dirty="0" smtClean="0"/>
              <a:t/>
            </a:r>
            <a:br>
              <a:rPr lang="en-US" dirty="0" smtClean="0"/>
            </a:br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11277219" y="6473339"/>
            <a:ext cx="228600" cy="17633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11</a:t>
            </a:fld>
            <a:endParaRPr sz="1100">
              <a:latin typeface="Trebuchet MS"/>
              <a:cs typeface="Trebuchet MS"/>
            </a:endParaRPr>
          </a:p>
        </p:txBody>
      </p:sp>
      <p:pic>
        <p:nvPicPr>
          <p:cNvPr id="2" name="Picture 1" title="bgvkgtkkk 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57" y="1524000"/>
            <a:ext cx="11853307" cy="39303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0" y="2322731"/>
            <a:ext cx="3311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EMPLOYEE PERFORMANCE ANALYSIS</a:t>
            </a:r>
            <a:endParaRPr lang="en-IN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A5CB5B-BDD0-5A64-1A7C-37D3C88F8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47800" y="2057400"/>
            <a:ext cx="6781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Based on our analysis , we found significant trends in</a:t>
            </a:r>
          </a:p>
          <a:p>
            <a:r>
              <a:rPr lang="en-US" sz="2400" dirty="0" smtClean="0"/>
              <a:t>Employee performance and turnover , highlighting the need for targeted training and improved retention strategies . Enhancing employee satisfaction and addressing key issues will be crucial for optimizing overall workforce effectiveness.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86442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286</TotalTime>
  <Words>207</Words>
  <Application>Microsoft Office PowerPoint</Application>
  <PresentationFormat>Custom</PresentationFormat>
  <Paragraphs>55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Employee Data Analysis using Excel  </vt:lpstr>
      <vt:lpstr>PROJECT TITLE</vt:lpstr>
      <vt:lpstr>AGENDA</vt:lpstr>
      <vt:lpstr>PROBLEM STATEMENT   It is made for company Profitable growth and success and also Employee personal growth too .. </vt:lpstr>
      <vt:lpstr>PROJECT OVERVIEW  The primary purpose of an employee database is to store and organize employee related information for administrative , operational  and analytical purposes.</vt:lpstr>
      <vt:lpstr>WHO ARE THE END USERS?   1 . Company Management  2 . Employee</vt:lpstr>
      <vt:lpstr>OUR SOLUTION AND ITS VALUE PROPOSITION                     1 . Filtering – It  removes the  missing  values                                     2 .  Conditinal Formating  - Blanks                                     3 .   Pivot table – Summary of employee performance                                                                    4 .  Formulas – IF                                     5 .   Graphs – FINAL REPORT </vt:lpstr>
      <vt:lpstr>Dataset Description  Employee Dataset  : Kaggle features                    :out of 26 / 9 features  Employee ID: Unique identifier for each employee in the organization. First Name: The first name of the employee. Last Name: The last name of the employee. Start Date: The date when the employee started working for the organization. Exit Date: The date when the employee left or exited the organization (if applicable). Business Unit: The specific business unit or department to which the employee belongs. Employee Type: The type of employment the employee has (e.g., Full-time, Part-time, Contract). Pay Zone: The pay zone or salary band to which the employee's compensation falls. Employee Classification Type: The classification type of the employee (e.g., Exempt, Non-exempt). Termination Type: The type of termination if the employee has left the organization.  Gender : Male and female  </vt:lpstr>
      <vt:lpstr>THE "WOW" IN OUR SOLUTION</vt:lpstr>
      <vt:lpstr>PowerPoint Presentation</vt:lpstr>
      <vt:lpstr>RESULTS 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Mask Detection using Convolutional Neural Network (CNN)  </dc:title>
  <dc:creator>Konduru Narasimha</dc:creator>
  <cp:lastModifiedBy>Intel</cp:lastModifiedBy>
  <cp:revision>26</cp:revision>
  <dcterms:created xsi:type="dcterms:W3CDTF">2024-03-29T15:07:22Z</dcterms:created>
  <dcterms:modified xsi:type="dcterms:W3CDTF">2024-08-29T12:32:26Z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</Properties>
</file>